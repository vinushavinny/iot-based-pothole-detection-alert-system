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4630400" cy="8229600"/>
  <p:notesSz cx="8229600" cy="14630400"/>
  <p:embeddedFontLst>
    <p:embeddedFont>
      <p:font typeface="Calibri" panose="020F0502020204030204" pitchFamily="34" charset="0"/>
      <p:regular r:id="rId18"/>
      <p:bold r:id="rId19"/>
      <p:italic r:id="rId20"/>
      <p:boldItalic r:id="rId21"/>
    </p:embeddedFont>
    <p:embeddedFont>
      <p:font typeface="Inter"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523"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3197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431500"/>
            <a:ext cx="12258913"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 IoT Based Pothole Detection &amp; Alert System </a:t>
            </a:r>
            <a:endParaRPr lang="en-US" sz="4450" dirty="0"/>
          </a:p>
        </p:txBody>
      </p:sp>
      <p:sp>
        <p:nvSpPr>
          <p:cNvPr id="4" name="Rectangle 3">
            <a:extLst>
              <a:ext uri="{FF2B5EF4-FFF2-40B4-BE49-F238E27FC236}">
                <a16:creationId xmlns:a16="http://schemas.microsoft.com/office/drawing/2014/main" id="{A31CD75F-14E5-13D6-DC83-AF2B435DFA4E}"/>
              </a:ext>
            </a:extLst>
          </p:cNvPr>
          <p:cNvSpPr/>
          <p:nvPr/>
        </p:nvSpPr>
        <p:spPr>
          <a:xfrm>
            <a:off x="12801600" y="7716253"/>
            <a:ext cx="1828800" cy="5133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00285AC-3FDE-880D-5416-2ECAA837B801}"/>
              </a:ext>
            </a:extLst>
          </p:cNvPr>
          <p:cNvSpPr/>
          <p:nvPr/>
        </p:nvSpPr>
        <p:spPr>
          <a:xfrm>
            <a:off x="12801600" y="7716253"/>
            <a:ext cx="1828800" cy="5133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648057"/>
            <a:ext cx="4820007" cy="602456"/>
          </a:xfrm>
          <a:prstGeom prst="rect">
            <a:avLst/>
          </a:prstGeom>
          <a:noFill/>
          <a:ln/>
        </p:spPr>
        <p:txBody>
          <a:bodyPr wrap="none" lIns="0" tIns="0" rIns="0" bIns="0" rtlCol="0" anchor="t"/>
          <a:lstStyle/>
          <a:p>
            <a:pPr marL="0" indent="0" algn="l">
              <a:lnSpc>
                <a:spcPts val="4700"/>
              </a:lnSpc>
              <a:buNone/>
            </a:pPr>
            <a:r>
              <a:rPr lang="en-US" sz="3750" b="1" dirty="0">
                <a:solidFill>
                  <a:srgbClr val="000000"/>
                </a:solidFill>
                <a:latin typeface="Inter Bold" pitchFamily="34" charset="0"/>
                <a:ea typeface="Inter Bold" pitchFamily="34" charset="-122"/>
                <a:cs typeface="Inter Bold" pitchFamily="34" charset="-120"/>
              </a:rPr>
              <a:t>Abstract:</a:t>
            </a:r>
            <a:endParaRPr lang="en-US" sz="3750" dirty="0"/>
          </a:p>
        </p:txBody>
      </p:sp>
      <p:sp>
        <p:nvSpPr>
          <p:cNvPr id="3" name="Text 1"/>
          <p:cNvSpPr/>
          <p:nvPr/>
        </p:nvSpPr>
        <p:spPr>
          <a:xfrm>
            <a:off x="793790" y="1315998"/>
            <a:ext cx="13042821" cy="6265545"/>
          </a:xfrm>
          <a:prstGeom prst="rect">
            <a:avLst/>
          </a:prstGeom>
          <a:noFill/>
          <a:ln/>
        </p:spPr>
        <p:txBody>
          <a:bodyPr wrap="square" lIns="0" tIns="0" rIns="0" bIns="0" rtlCol="0" anchor="t"/>
          <a:lstStyle/>
          <a:p>
            <a:pPr marL="0" indent="0" algn="l">
              <a:lnSpc>
                <a:spcPts val="3750"/>
              </a:lnSpc>
              <a:buNone/>
            </a:pPr>
            <a:r>
              <a:rPr lang="en-US" sz="3000" dirty="0">
                <a:solidFill>
                  <a:srgbClr val="000000"/>
                </a:solidFill>
                <a:latin typeface="Inter" panose="020B0604020202020204" charset="0"/>
                <a:ea typeface="Inter" panose="020B0604020202020204" charset="0"/>
                <a:cs typeface="Inter Bold" pitchFamily="34" charset="-120"/>
              </a:rPr>
              <a:t>This project proposes an IoT-based Pothole Detection System designed for real-time monitoring and alerting of road potholes. Employing two ultrasonic sensors and GPS technology, the system ensures accurate detection and precise location tracking. Alerts are relayed to drivers through a mobile app using a buzzer and handle vibrator. Additionally, the integration of the ESP32-CAM module allows for the capture of pothole images, which are transmitted to a Telegram channel along with GPS and ultrasonic data. The algorithm for pothole detection operates in real-time, and recorded data can be accessed by authorized individuals and drivers through a dedicated app or webpage. This system offers a comprehensive approach to road safety and maintenance, enhancing driver awareness and facilitating timely interventions</a:t>
            </a:r>
            <a:r>
              <a:rPr lang="en-US" sz="3000" dirty="0">
                <a:solidFill>
                  <a:srgbClr val="000000"/>
                </a:solidFill>
                <a:latin typeface="Inter Bold" pitchFamily="34" charset="0"/>
                <a:ea typeface="Inter Bold" pitchFamily="34" charset="-122"/>
                <a:cs typeface="Inter Bold" pitchFamily="34" charset="-120"/>
              </a:rPr>
              <a:t>.</a:t>
            </a:r>
            <a:endParaRPr lang="en-US" sz="3000" dirty="0"/>
          </a:p>
        </p:txBody>
      </p:sp>
      <p:sp>
        <p:nvSpPr>
          <p:cNvPr id="4" name="Rectangle 3">
            <a:extLst>
              <a:ext uri="{FF2B5EF4-FFF2-40B4-BE49-F238E27FC236}">
                <a16:creationId xmlns:a16="http://schemas.microsoft.com/office/drawing/2014/main" id="{E4CAE53B-AB69-8D14-0367-7EC23B6FD06C}"/>
              </a:ext>
            </a:extLst>
          </p:cNvPr>
          <p:cNvSpPr/>
          <p:nvPr/>
        </p:nvSpPr>
        <p:spPr>
          <a:xfrm>
            <a:off x="12801600" y="7716253"/>
            <a:ext cx="1828800" cy="5133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989183"/>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Introduction:</a:t>
            </a:r>
            <a:endParaRPr lang="en-US" sz="4450" dirty="0"/>
          </a:p>
        </p:txBody>
      </p:sp>
      <p:sp>
        <p:nvSpPr>
          <p:cNvPr id="3" name="Text 1"/>
          <p:cNvSpPr/>
          <p:nvPr/>
        </p:nvSpPr>
        <p:spPr>
          <a:xfrm>
            <a:off x="793790" y="4151590"/>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Road infrastructure is crucial for transportation, but potholes pose a significant threat to both vehicles and pedestrians. Traditional methods of pothole detection and reporting are often manual and time-consuming. The proposed system utilizes IoT technology to automate this process, ensuring swift and accurate detection of potholes.</a:t>
            </a:r>
            <a:endParaRPr lang="en-US" sz="1750" dirty="0"/>
          </a:p>
        </p:txBody>
      </p:sp>
      <p:sp>
        <p:nvSpPr>
          <p:cNvPr id="4" name="Rectangle 3">
            <a:extLst>
              <a:ext uri="{FF2B5EF4-FFF2-40B4-BE49-F238E27FC236}">
                <a16:creationId xmlns:a16="http://schemas.microsoft.com/office/drawing/2014/main" id="{8E30866A-0F52-96F9-D4CA-D625D191B1A3}"/>
              </a:ext>
            </a:extLst>
          </p:cNvPr>
          <p:cNvSpPr/>
          <p:nvPr/>
        </p:nvSpPr>
        <p:spPr>
          <a:xfrm>
            <a:off x="12801600" y="7716253"/>
            <a:ext cx="1828800" cy="5133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989183"/>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Existing System:</a:t>
            </a:r>
            <a:endParaRPr lang="en-US" sz="4450" dirty="0"/>
          </a:p>
        </p:txBody>
      </p:sp>
      <p:sp>
        <p:nvSpPr>
          <p:cNvPr id="3" name="Text 1"/>
          <p:cNvSpPr/>
          <p:nvPr/>
        </p:nvSpPr>
        <p:spPr>
          <a:xfrm>
            <a:off x="793790" y="4151590"/>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In the existing system, pothole detection is primarily reliant on visual inspections or reports from individuals, leading to delays in repairs and increased risks on the roads. This manual approach may overlook hidden or newly formed potholes, compromising road safety.</a:t>
            </a:r>
            <a:endParaRPr lang="en-US" sz="1750" dirty="0"/>
          </a:p>
        </p:txBody>
      </p:sp>
      <p:sp>
        <p:nvSpPr>
          <p:cNvPr id="4" name="Rectangle 3">
            <a:extLst>
              <a:ext uri="{FF2B5EF4-FFF2-40B4-BE49-F238E27FC236}">
                <a16:creationId xmlns:a16="http://schemas.microsoft.com/office/drawing/2014/main" id="{A003A7D1-51BC-0694-983F-4B9FBB8C6B8D}"/>
              </a:ext>
            </a:extLst>
          </p:cNvPr>
          <p:cNvSpPr/>
          <p:nvPr/>
        </p:nvSpPr>
        <p:spPr>
          <a:xfrm>
            <a:off x="12801600" y="7732295"/>
            <a:ext cx="1828800" cy="5133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B111C996-DBA7-A84C-19CC-5D286EB1BECF}"/>
              </a:ext>
            </a:extLst>
          </p:cNvPr>
          <p:cNvSpPr/>
          <p:nvPr/>
        </p:nvSpPr>
        <p:spPr>
          <a:xfrm>
            <a:off x="12801600" y="7716253"/>
            <a:ext cx="1828800" cy="5133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989183"/>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Proposed System:</a:t>
            </a:r>
            <a:endParaRPr lang="en-US" sz="4450" dirty="0"/>
          </a:p>
        </p:txBody>
      </p:sp>
      <p:sp>
        <p:nvSpPr>
          <p:cNvPr id="3" name="Text 1"/>
          <p:cNvSpPr/>
          <p:nvPr/>
        </p:nvSpPr>
        <p:spPr>
          <a:xfrm>
            <a:off x="793790" y="4151590"/>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The IoT-based Pothole Detecting and Alert System integrates smart sensors and cameras along roadways. These devices continuously monitor road conditions and detect potholes automatically. The system then sends real-time alerts to relevant authorities and drivers, enabling prompt repairs and reducing the likelihood of accidents.</a:t>
            </a:r>
            <a:endParaRPr lang="en-US" sz="1750" dirty="0"/>
          </a:p>
        </p:txBody>
      </p:sp>
      <p:sp>
        <p:nvSpPr>
          <p:cNvPr id="4" name="Rectangle 3">
            <a:extLst>
              <a:ext uri="{FF2B5EF4-FFF2-40B4-BE49-F238E27FC236}">
                <a16:creationId xmlns:a16="http://schemas.microsoft.com/office/drawing/2014/main" id="{639669D0-CB41-18A5-60FD-B1C373737AA8}"/>
              </a:ext>
            </a:extLst>
          </p:cNvPr>
          <p:cNvSpPr/>
          <p:nvPr/>
        </p:nvSpPr>
        <p:spPr>
          <a:xfrm>
            <a:off x="12801600" y="7716253"/>
            <a:ext cx="1828800" cy="5133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01754"/>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Proposed system:</a:t>
            </a:r>
            <a:endParaRPr lang="en-US" sz="4450" dirty="0"/>
          </a:p>
        </p:txBody>
      </p:sp>
      <p:pic>
        <p:nvPicPr>
          <p:cNvPr id="3" name="Image 0" descr="preencoded.png"/>
          <p:cNvPicPr>
            <a:picLocks noChangeAspect="1"/>
          </p:cNvPicPr>
          <p:nvPr/>
        </p:nvPicPr>
        <p:blipFill>
          <a:blip r:embed="rId3"/>
          <a:stretch>
            <a:fillRect/>
          </a:stretch>
        </p:blipFill>
        <p:spPr>
          <a:xfrm>
            <a:off x="793790" y="1864162"/>
            <a:ext cx="11695748" cy="5663565"/>
          </a:xfrm>
          <a:prstGeom prst="rect">
            <a:avLst/>
          </a:prstGeom>
        </p:spPr>
      </p:pic>
      <p:sp>
        <p:nvSpPr>
          <p:cNvPr id="4" name="Rectangle 3">
            <a:extLst>
              <a:ext uri="{FF2B5EF4-FFF2-40B4-BE49-F238E27FC236}">
                <a16:creationId xmlns:a16="http://schemas.microsoft.com/office/drawing/2014/main" id="{BBAF75FB-834B-6ECB-A9C9-67638CB4DD7B}"/>
              </a:ext>
            </a:extLst>
          </p:cNvPr>
          <p:cNvSpPr/>
          <p:nvPr/>
        </p:nvSpPr>
        <p:spPr>
          <a:xfrm>
            <a:off x="12801600" y="7716253"/>
            <a:ext cx="1828800" cy="5133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025491"/>
            <a:ext cx="6484025"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Hardware components:</a:t>
            </a:r>
            <a:endParaRPr lang="en-US" sz="4450" dirty="0"/>
          </a:p>
        </p:txBody>
      </p:sp>
      <p:sp>
        <p:nvSpPr>
          <p:cNvPr id="3" name="Text 1"/>
          <p:cNvSpPr/>
          <p:nvPr/>
        </p:nvSpPr>
        <p:spPr>
          <a:xfrm>
            <a:off x="793790" y="318789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Arduino uno</a:t>
            </a:r>
            <a:endParaRPr lang="en-US" sz="1750" dirty="0"/>
          </a:p>
        </p:txBody>
      </p:sp>
      <p:sp>
        <p:nvSpPr>
          <p:cNvPr id="4" name="Text 2"/>
          <p:cNvSpPr/>
          <p:nvPr/>
        </p:nvSpPr>
        <p:spPr>
          <a:xfrm>
            <a:off x="793790" y="3630097"/>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Ultrasonic sensor</a:t>
            </a:r>
            <a:endParaRPr lang="en-US" sz="1750" dirty="0"/>
          </a:p>
        </p:txBody>
      </p:sp>
      <p:sp>
        <p:nvSpPr>
          <p:cNvPr id="5" name="Text 3"/>
          <p:cNvSpPr/>
          <p:nvPr/>
        </p:nvSpPr>
        <p:spPr>
          <a:xfrm>
            <a:off x="793790" y="4072295"/>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Gps module</a:t>
            </a:r>
            <a:endParaRPr lang="en-US" sz="1750" dirty="0"/>
          </a:p>
        </p:txBody>
      </p:sp>
      <p:sp>
        <p:nvSpPr>
          <p:cNvPr id="6" name="Text 4"/>
          <p:cNvSpPr/>
          <p:nvPr/>
        </p:nvSpPr>
        <p:spPr>
          <a:xfrm>
            <a:off x="793790" y="4514493"/>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Motor driver</a:t>
            </a:r>
            <a:endParaRPr lang="en-US" sz="1750" dirty="0"/>
          </a:p>
        </p:txBody>
      </p:sp>
      <p:sp>
        <p:nvSpPr>
          <p:cNvPr id="7" name="Text 5"/>
          <p:cNvSpPr/>
          <p:nvPr/>
        </p:nvSpPr>
        <p:spPr>
          <a:xfrm>
            <a:off x="793790" y="4956691"/>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Motors</a:t>
            </a:r>
            <a:endParaRPr lang="en-US" sz="1750" dirty="0"/>
          </a:p>
        </p:txBody>
      </p:sp>
      <p:sp>
        <p:nvSpPr>
          <p:cNvPr id="8" name="Text 6"/>
          <p:cNvSpPr/>
          <p:nvPr/>
        </p:nvSpPr>
        <p:spPr>
          <a:xfrm>
            <a:off x="793790" y="5398889"/>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Esp8266 wifi module</a:t>
            </a:r>
            <a:endParaRPr lang="en-US" sz="1750" dirty="0"/>
          </a:p>
        </p:txBody>
      </p:sp>
      <p:sp>
        <p:nvSpPr>
          <p:cNvPr id="9" name="Text 7"/>
          <p:cNvSpPr/>
          <p:nvPr/>
        </p:nvSpPr>
        <p:spPr>
          <a:xfrm>
            <a:off x="793790" y="5841087"/>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Jumper wires etc</a:t>
            </a:r>
            <a:endParaRPr lang="en-US" sz="1750" dirty="0"/>
          </a:p>
        </p:txBody>
      </p:sp>
      <p:sp>
        <p:nvSpPr>
          <p:cNvPr id="10" name="Rectangle 9">
            <a:extLst>
              <a:ext uri="{FF2B5EF4-FFF2-40B4-BE49-F238E27FC236}">
                <a16:creationId xmlns:a16="http://schemas.microsoft.com/office/drawing/2014/main" id="{6CE25F81-4A44-8E0D-82EF-EDBB78F26A58}"/>
              </a:ext>
            </a:extLst>
          </p:cNvPr>
          <p:cNvSpPr/>
          <p:nvPr/>
        </p:nvSpPr>
        <p:spPr>
          <a:xfrm>
            <a:off x="12801600" y="7716253"/>
            <a:ext cx="1828800" cy="5133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3130987"/>
            <a:ext cx="6108621"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Software components</a:t>
            </a:r>
            <a:endParaRPr lang="en-US" sz="4450" dirty="0"/>
          </a:p>
        </p:txBody>
      </p:sp>
      <p:sp>
        <p:nvSpPr>
          <p:cNvPr id="3" name="Text 1"/>
          <p:cNvSpPr/>
          <p:nvPr/>
        </p:nvSpPr>
        <p:spPr>
          <a:xfrm>
            <a:off x="793790" y="4293394"/>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Arduino Software</a:t>
            </a:r>
            <a:endParaRPr lang="en-US" sz="1750" dirty="0"/>
          </a:p>
        </p:txBody>
      </p:sp>
      <p:sp>
        <p:nvSpPr>
          <p:cNvPr id="4" name="Text 2"/>
          <p:cNvSpPr/>
          <p:nvPr/>
        </p:nvSpPr>
        <p:spPr>
          <a:xfrm>
            <a:off x="793790" y="4735592"/>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Arduino c language</a:t>
            </a:r>
            <a:endParaRPr lang="en-US" sz="1750" dirty="0"/>
          </a:p>
        </p:txBody>
      </p:sp>
      <p:sp>
        <p:nvSpPr>
          <p:cNvPr id="5" name="Rectangle 4">
            <a:extLst>
              <a:ext uri="{FF2B5EF4-FFF2-40B4-BE49-F238E27FC236}">
                <a16:creationId xmlns:a16="http://schemas.microsoft.com/office/drawing/2014/main" id="{9AA4482B-19BF-B2F1-2CE6-7D1042333452}"/>
              </a:ext>
            </a:extLst>
          </p:cNvPr>
          <p:cNvSpPr/>
          <p:nvPr/>
        </p:nvSpPr>
        <p:spPr>
          <a:xfrm>
            <a:off x="12801600" y="7716253"/>
            <a:ext cx="1828800" cy="5133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688788"/>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Advantages:</a:t>
            </a:r>
            <a:endParaRPr lang="en-US" sz="4450" dirty="0"/>
          </a:p>
        </p:txBody>
      </p:sp>
      <p:sp>
        <p:nvSpPr>
          <p:cNvPr id="3" name="Text 1"/>
          <p:cNvSpPr/>
          <p:nvPr/>
        </p:nvSpPr>
        <p:spPr>
          <a:xfrm>
            <a:off x="793790" y="3851196"/>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a:pPr>
            <a:r>
              <a:rPr lang="en-US" sz="1750" b="1" dirty="0">
                <a:solidFill>
                  <a:srgbClr val="272525"/>
                </a:solidFill>
                <a:latin typeface="Inter" pitchFamily="34" charset="0"/>
                <a:ea typeface="Inter" pitchFamily="34" charset="-122"/>
                <a:cs typeface="Inter" pitchFamily="34" charset="-120"/>
              </a:rPr>
              <a:t>Real-time Detection:</a:t>
            </a:r>
            <a:r>
              <a:rPr lang="en-US" sz="1750" dirty="0">
                <a:solidFill>
                  <a:srgbClr val="272525"/>
                </a:solidFill>
                <a:latin typeface="Inter" pitchFamily="34" charset="0"/>
                <a:ea typeface="Inter" pitchFamily="34" charset="-122"/>
                <a:cs typeface="Inter" pitchFamily="34" charset="-120"/>
              </a:rPr>
              <a:t> Swift identification of potholes as they form.</a:t>
            </a:r>
            <a:endParaRPr lang="en-US" sz="1750" dirty="0"/>
          </a:p>
        </p:txBody>
      </p:sp>
      <p:sp>
        <p:nvSpPr>
          <p:cNvPr id="4" name="Text 2"/>
          <p:cNvSpPr/>
          <p:nvPr/>
        </p:nvSpPr>
        <p:spPr>
          <a:xfrm>
            <a:off x="793790" y="4293394"/>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1750" b="1" dirty="0">
                <a:solidFill>
                  <a:srgbClr val="272525"/>
                </a:solidFill>
                <a:latin typeface="Inter" pitchFamily="34" charset="0"/>
                <a:ea typeface="Inter" pitchFamily="34" charset="-122"/>
                <a:cs typeface="Inter" pitchFamily="34" charset="-120"/>
              </a:rPr>
              <a:t>Automated Reporting:</a:t>
            </a:r>
            <a:r>
              <a:rPr lang="en-US" sz="1750" dirty="0">
                <a:solidFill>
                  <a:srgbClr val="272525"/>
                </a:solidFill>
                <a:latin typeface="Inter" pitchFamily="34" charset="0"/>
                <a:ea typeface="Inter" pitchFamily="34" charset="-122"/>
                <a:cs typeface="Inter" pitchFamily="34" charset="-120"/>
              </a:rPr>
              <a:t> Immediate alerts to authorities for timely repairs.</a:t>
            </a:r>
            <a:endParaRPr lang="en-US" sz="1750" dirty="0"/>
          </a:p>
        </p:txBody>
      </p:sp>
      <p:sp>
        <p:nvSpPr>
          <p:cNvPr id="5" name="Text 3"/>
          <p:cNvSpPr/>
          <p:nvPr/>
        </p:nvSpPr>
        <p:spPr>
          <a:xfrm>
            <a:off x="793790" y="4735592"/>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1750" b="1" dirty="0">
                <a:solidFill>
                  <a:srgbClr val="272525"/>
                </a:solidFill>
                <a:latin typeface="Inter" pitchFamily="34" charset="0"/>
                <a:ea typeface="Inter" pitchFamily="34" charset="-122"/>
                <a:cs typeface="Inter" pitchFamily="34" charset="-120"/>
              </a:rPr>
              <a:t>Enhanced Safety:</a:t>
            </a:r>
            <a:r>
              <a:rPr lang="en-US" sz="1750" dirty="0">
                <a:solidFill>
                  <a:srgbClr val="272525"/>
                </a:solidFill>
                <a:latin typeface="Inter" pitchFamily="34" charset="0"/>
                <a:ea typeface="Inter" pitchFamily="34" charset="-122"/>
                <a:cs typeface="Inter" pitchFamily="34" charset="-120"/>
              </a:rPr>
              <a:t> Minimization of accidents caused by road hazards.</a:t>
            </a:r>
            <a:endParaRPr lang="en-US" sz="1750" dirty="0"/>
          </a:p>
        </p:txBody>
      </p:sp>
      <p:sp>
        <p:nvSpPr>
          <p:cNvPr id="6" name="Text 4"/>
          <p:cNvSpPr/>
          <p:nvPr/>
        </p:nvSpPr>
        <p:spPr>
          <a:xfrm>
            <a:off x="793790" y="5177790"/>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4"/>
            </a:pPr>
            <a:r>
              <a:rPr lang="en-US" sz="1750" b="1" dirty="0">
                <a:solidFill>
                  <a:srgbClr val="272525"/>
                </a:solidFill>
                <a:latin typeface="Inter" pitchFamily="34" charset="0"/>
                <a:ea typeface="Inter" pitchFamily="34" charset="-122"/>
                <a:cs typeface="Inter" pitchFamily="34" charset="-120"/>
              </a:rPr>
              <a:t>Efficient Maintenance:</a:t>
            </a:r>
            <a:r>
              <a:rPr lang="en-US" sz="1750" dirty="0">
                <a:solidFill>
                  <a:srgbClr val="272525"/>
                </a:solidFill>
                <a:latin typeface="Inter" pitchFamily="34" charset="0"/>
                <a:ea typeface="Inter" pitchFamily="34" charset="-122"/>
                <a:cs typeface="Inter" pitchFamily="34" charset="-120"/>
              </a:rPr>
              <a:t> Proactive approach to road maintenance.</a:t>
            </a:r>
            <a:endParaRPr lang="en-US" sz="1750" dirty="0"/>
          </a:p>
        </p:txBody>
      </p:sp>
      <p:sp>
        <p:nvSpPr>
          <p:cNvPr id="7" name="Rectangle 6">
            <a:extLst>
              <a:ext uri="{FF2B5EF4-FFF2-40B4-BE49-F238E27FC236}">
                <a16:creationId xmlns:a16="http://schemas.microsoft.com/office/drawing/2014/main" id="{A781AB36-A032-74D1-262D-56761469B527}"/>
              </a:ext>
            </a:extLst>
          </p:cNvPr>
          <p:cNvSpPr/>
          <p:nvPr/>
        </p:nvSpPr>
        <p:spPr>
          <a:xfrm>
            <a:off x="12801600" y="7716253"/>
            <a:ext cx="1828800" cy="5133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2909888"/>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Disadvantages:</a:t>
            </a:r>
            <a:endParaRPr lang="en-US" sz="4450" dirty="0"/>
          </a:p>
        </p:txBody>
      </p:sp>
      <p:sp>
        <p:nvSpPr>
          <p:cNvPr id="3" name="Text 1"/>
          <p:cNvSpPr/>
          <p:nvPr/>
        </p:nvSpPr>
        <p:spPr>
          <a:xfrm>
            <a:off x="793790" y="4072295"/>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a:pPr>
            <a:r>
              <a:rPr lang="en-US" sz="1750" b="1" dirty="0">
                <a:solidFill>
                  <a:srgbClr val="272525"/>
                </a:solidFill>
                <a:latin typeface="Inter" pitchFamily="34" charset="0"/>
                <a:ea typeface="Inter" pitchFamily="34" charset="-122"/>
                <a:cs typeface="Inter" pitchFamily="34" charset="-120"/>
              </a:rPr>
              <a:t>Initial Costs:</a:t>
            </a:r>
            <a:r>
              <a:rPr lang="en-US" sz="1750" dirty="0">
                <a:solidFill>
                  <a:srgbClr val="272525"/>
                </a:solidFill>
                <a:latin typeface="Inter" pitchFamily="34" charset="0"/>
                <a:ea typeface="Inter" pitchFamily="34" charset="-122"/>
                <a:cs typeface="Inter" pitchFamily="34" charset="-120"/>
              </a:rPr>
              <a:t> Implementation may require a significant upfront investment.</a:t>
            </a:r>
            <a:endParaRPr lang="en-US" sz="1750" dirty="0"/>
          </a:p>
        </p:txBody>
      </p:sp>
      <p:sp>
        <p:nvSpPr>
          <p:cNvPr id="4" name="Text 2"/>
          <p:cNvSpPr/>
          <p:nvPr/>
        </p:nvSpPr>
        <p:spPr>
          <a:xfrm>
            <a:off x="793790" y="4514493"/>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1750" b="1" dirty="0">
                <a:solidFill>
                  <a:srgbClr val="272525"/>
                </a:solidFill>
                <a:latin typeface="Inter" pitchFamily="34" charset="0"/>
                <a:ea typeface="Inter" pitchFamily="34" charset="-122"/>
                <a:cs typeface="Inter" pitchFamily="34" charset="-120"/>
              </a:rPr>
              <a:t>Maintenance Challenges:</a:t>
            </a:r>
            <a:r>
              <a:rPr lang="en-US" sz="1750" dirty="0">
                <a:solidFill>
                  <a:srgbClr val="272525"/>
                </a:solidFill>
                <a:latin typeface="Inter" pitchFamily="34" charset="0"/>
                <a:ea typeface="Inter" pitchFamily="34" charset="-122"/>
                <a:cs typeface="Inter" pitchFamily="34" charset="-120"/>
              </a:rPr>
              <a:t> Ensuring the proper functioning of sensors and devices.</a:t>
            </a:r>
            <a:endParaRPr lang="en-US" sz="1750" dirty="0"/>
          </a:p>
        </p:txBody>
      </p:sp>
      <p:sp>
        <p:nvSpPr>
          <p:cNvPr id="5" name="Text 3"/>
          <p:cNvSpPr/>
          <p:nvPr/>
        </p:nvSpPr>
        <p:spPr>
          <a:xfrm>
            <a:off x="793790" y="4956691"/>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1750" b="1" dirty="0">
                <a:solidFill>
                  <a:srgbClr val="272525"/>
                </a:solidFill>
                <a:latin typeface="Inter" pitchFamily="34" charset="0"/>
                <a:ea typeface="Inter" pitchFamily="34" charset="-122"/>
                <a:cs typeface="Inter" pitchFamily="34" charset="-120"/>
              </a:rPr>
              <a:t>Privacy Concerns:</a:t>
            </a:r>
            <a:r>
              <a:rPr lang="en-US" sz="1750" dirty="0">
                <a:solidFill>
                  <a:srgbClr val="272525"/>
                </a:solidFill>
                <a:latin typeface="Inter" pitchFamily="34" charset="0"/>
                <a:ea typeface="Inter" pitchFamily="34" charset="-122"/>
                <a:cs typeface="Inter" pitchFamily="34" charset="-120"/>
              </a:rPr>
              <a:t> Addressing potential privacy issues related to continuous monitoring</a:t>
            </a:r>
            <a:endParaRPr lang="en-US" sz="1750" dirty="0"/>
          </a:p>
        </p:txBody>
      </p:sp>
      <p:sp>
        <p:nvSpPr>
          <p:cNvPr id="6" name="Rectangle 5">
            <a:extLst>
              <a:ext uri="{FF2B5EF4-FFF2-40B4-BE49-F238E27FC236}">
                <a16:creationId xmlns:a16="http://schemas.microsoft.com/office/drawing/2014/main" id="{F405D7B2-DDC4-69FD-D875-2B5A105710FC}"/>
              </a:ext>
            </a:extLst>
          </p:cNvPr>
          <p:cNvSpPr/>
          <p:nvPr/>
        </p:nvSpPr>
        <p:spPr>
          <a:xfrm>
            <a:off x="12801600" y="7716253"/>
            <a:ext cx="1828800" cy="5133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909888"/>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Applications:</a:t>
            </a:r>
            <a:endParaRPr lang="en-US" sz="4450" dirty="0"/>
          </a:p>
        </p:txBody>
      </p:sp>
      <p:sp>
        <p:nvSpPr>
          <p:cNvPr id="3" name="Text 1"/>
          <p:cNvSpPr/>
          <p:nvPr/>
        </p:nvSpPr>
        <p:spPr>
          <a:xfrm>
            <a:off x="793790" y="4072295"/>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a:pPr>
            <a:r>
              <a:rPr lang="en-US" sz="1750" b="1" dirty="0">
                <a:solidFill>
                  <a:srgbClr val="272525"/>
                </a:solidFill>
                <a:latin typeface="Inter" pitchFamily="34" charset="0"/>
                <a:ea typeface="Inter" pitchFamily="34" charset="-122"/>
                <a:cs typeface="Inter" pitchFamily="34" charset="-120"/>
              </a:rPr>
              <a:t>Urban Roads:</a:t>
            </a:r>
            <a:r>
              <a:rPr lang="en-US" sz="1750" dirty="0">
                <a:solidFill>
                  <a:srgbClr val="272525"/>
                </a:solidFill>
                <a:latin typeface="Inter" pitchFamily="34" charset="0"/>
                <a:ea typeface="Inter" pitchFamily="34" charset="-122"/>
                <a:cs typeface="Inter" pitchFamily="34" charset="-120"/>
              </a:rPr>
              <a:t> Monitoring and maintenance of city streets.</a:t>
            </a:r>
            <a:endParaRPr lang="en-US" sz="1750" dirty="0"/>
          </a:p>
        </p:txBody>
      </p:sp>
      <p:sp>
        <p:nvSpPr>
          <p:cNvPr id="4" name="Text 2"/>
          <p:cNvSpPr/>
          <p:nvPr/>
        </p:nvSpPr>
        <p:spPr>
          <a:xfrm>
            <a:off x="793790" y="4514493"/>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1750" b="1" dirty="0">
                <a:solidFill>
                  <a:srgbClr val="272525"/>
                </a:solidFill>
                <a:latin typeface="Inter" pitchFamily="34" charset="0"/>
                <a:ea typeface="Inter" pitchFamily="34" charset="-122"/>
                <a:cs typeface="Inter" pitchFamily="34" charset="-120"/>
              </a:rPr>
              <a:t>Highways:</a:t>
            </a:r>
            <a:r>
              <a:rPr lang="en-US" sz="1750" dirty="0">
                <a:solidFill>
                  <a:srgbClr val="272525"/>
                </a:solidFill>
                <a:latin typeface="Inter" pitchFamily="34" charset="0"/>
                <a:ea typeface="Inter" pitchFamily="34" charset="-122"/>
                <a:cs typeface="Inter" pitchFamily="34" charset="-120"/>
              </a:rPr>
              <a:t> Ensuring long-distance road safety.</a:t>
            </a:r>
            <a:endParaRPr lang="en-US" sz="1750" dirty="0"/>
          </a:p>
        </p:txBody>
      </p:sp>
      <p:sp>
        <p:nvSpPr>
          <p:cNvPr id="5" name="Text 3"/>
          <p:cNvSpPr/>
          <p:nvPr/>
        </p:nvSpPr>
        <p:spPr>
          <a:xfrm>
            <a:off x="793790" y="4956691"/>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1750" b="1" dirty="0">
                <a:solidFill>
                  <a:srgbClr val="272525"/>
                </a:solidFill>
                <a:latin typeface="Inter" pitchFamily="34" charset="0"/>
                <a:ea typeface="Inter" pitchFamily="34" charset="-122"/>
                <a:cs typeface="Inter" pitchFamily="34" charset="-120"/>
              </a:rPr>
              <a:t>Rural Areas:</a:t>
            </a:r>
            <a:r>
              <a:rPr lang="en-US" sz="1750" dirty="0">
                <a:solidFill>
                  <a:srgbClr val="272525"/>
                </a:solidFill>
                <a:latin typeface="Inter" pitchFamily="34" charset="0"/>
                <a:ea typeface="Inter" pitchFamily="34" charset="-122"/>
                <a:cs typeface="Inter" pitchFamily="34" charset="-120"/>
              </a:rPr>
              <a:t> Extending the system to improve road conditions in less populated regions</a:t>
            </a:r>
            <a:endParaRPr lang="en-US" sz="1750" dirty="0"/>
          </a:p>
        </p:txBody>
      </p:sp>
      <p:sp>
        <p:nvSpPr>
          <p:cNvPr id="6" name="Rectangle 5">
            <a:extLst>
              <a:ext uri="{FF2B5EF4-FFF2-40B4-BE49-F238E27FC236}">
                <a16:creationId xmlns:a16="http://schemas.microsoft.com/office/drawing/2014/main" id="{FA769E56-5ED3-6540-7150-B95E6AFA2F35}"/>
              </a:ext>
            </a:extLst>
          </p:cNvPr>
          <p:cNvSpPr/>
          <p:nvPr/>
        </p:nvSpPr>
        <p:spPr>
          <a:xfrm>
            <a:off x="12801600" y="7716253"/>
            <a:ext cx="1828800" cy="5133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2989183"/>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Conclusion:</a:t>
            </a:r>
            <a:endParaRPr lang="en-US" sz="4450" dirty="0"/>
          </a:p>
        </p:txBody>
      </p:sp>
      <p:sp>
        <p:nvSpPr>
          <p:cNvPr id="3" name="Text 1"/>
          <p:cNvSpPr/>
          <p:nvPr/>
        </p:nvSpPr>
        <p:spPr>
          <a:xfrm>
            <a:off x="793790" y="4151590"/>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The IoT-based Pothole Detecting and Alert System offers a technologically advanced and automated solution to the persistent issue of potholes in road infrastructure. By addressing detection delays and streamlining the repair process, the system contributes to overall road safety and maintenance.</a:t>
            </a:r>
            <a:endParaRPr lang="en-US" sz="1750" dirty="0"/>
          </a:p>
        </p:txBody>
      </p:sp>
      <p:sp>
        <p:nvSpPr>
          <p:cNvPr id="4" name="Rectangle 3">
            <a:extLst>
              <a:ext uri="{FF2B5EF4-FFF2-40B4-BE49-F238E27FC236}">
                <a16:creationId xmlns:a16="http://schemas.microsoft.com/office/drawing/2014/main" id="{FE0EEA1A-51F3-B873-FA51-B6307F5478D9}"/>
              </a:ext>
            </a:extLst>
          </p:cNvPr>
          <p:cNvSpPr/>
          <p:nvPr/>
        </p:nvSpPr>
        <p:spPr>
          <a:xfrm>
            <a:off x="12801600" y="7716253"/>
            <a:ext cx="1828800" cy="5133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2909888"/>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Future Scope:</a:t>
            </a:r>
            <a:endParaRPr lang="en-US" sz="4450" dirty="0"/>
          </a:p>
        </p:txBody>
      </p:sp>
      <p:sp>
        <p:nvSpPr>
          <p:cNvPr id="3" name="Text 1"/>
          <p:cNvSpPr/>
          <p:nvPr/>
        </p:nvSpPr>
        <p:spPr>
          <a:xfrm>
            <a:off x="793790" y="4072295"/>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a:pPr>
            <a:r>
              <a:rPr lang="en-US" sz="1750" b="1" dirty="0">
                <a:solidFill>
                  <a:srgbClr val="272525"/>
                </a:solidFill>
                <a:latin typeface="Inter" pitchFamily="34" charset="0"/>
                <a:ea typeface="Inter" pitchFamily="34" charset="-122"/>
                <a:cs typeface="Inter" pitchFamily="34" charset="-120"/>
              </a:rPr>
              <a:t>Integration with Autonomous Vehicles:</a:t>
            </a:r>
            <a:r>
              <a:rPr lang="en-US" sz="1750" dirty="0">
                <a:solidFill>
                  <a:srgbClr val="272525"/>
                </a:solidFill>
                <a:latin typeface="Inter" pitchFamily="34" charset="0"/>
                <a:ea typeface="Inter" pitchFamily="34" charset="-122"/>
                <a:cs typeface="Inter" pitchFamily="34" charset="-120"/>
              </a:rPr>
              <a:t> Enhancing safety features in self-driving cars.</a:t>
            </a:r>
            <a:endParaRPr lang="en-US" sz="1750" dirty="0"/>
          </a:p>
        </p:txBody>
      </p:sp>
      <p:sp>
        <p:nvSpPr>
          <p:cNvPr id="4" name="Text 2"/>
          <p:cNvSpPr/>
          <p:nvPr/>
        </p:nvSpPr>
        <p:spPr>
          <a:xfrm>
            <a:off x="793790" y="4514493"/>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1750" b="1" dirty="0">
                <a:solidFill>
                  <a:srgbClr val="272525"/>
                </a:solidFill>
                <a:latin typeface="Inter" pitchFamily="34" charset="0"/>
                <a:ea typeface="Inter" pitchFamily="34" charset="-122"/>
                <a:cs typeface="Inter" pitchFamily="34" charset="-120"/>
              </a:rPr>
              <a:t>Data Analytics for Predictive Maintenance:</a:t>
            </a:r>
            <a:r>
              <a:rPr lang="en-US" sz="1750" dirty="0">
                <a:solidFill>
                  <a:srgbClr val="272525"/>
                </a:solidFill>
                <a:latin typeface="Inter" pitchFamily="34" charset="0"/>
                <a:ea typeface="Inter" pitchFamily="34" charset="-122"/>
                <a:cs typeface="Inter" pitchFamily="34" charset="-120"/>
              </a:rPr>
              <a:t> Utilizing collected data to predict potential road issues.</a:t>
            </a:r>
            <a:endParaRPr lang="en-US" sz="1750" dirty="0"/>
          </a:p>
        </p:txBody>
      </p:sp>
      <p:sp>
        <p:nvSpPr>
          <p:cNvPr id="5" name="Text 3"/>
          <p:cNvSpPr/>
          <p:nvPr/>
        </p:nvSpPr>
        <p:spPr>
          <a:xfrm>
            <a:off x="793790" y="4956691"/>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1750" b="1" dirty="0">
                <a:solidFill>
                  <a:srgbClr val="272525"/>
                </a:solidFill>
                <a:latin typeface="Inter" pitchFamily="34" charset="0"/>
                <a:ea typeface="Inter" pitchFamily="34" charset="-122"/>
                <a:cs typeface="Inter" pitchFamily="34" charset="-120"/>
              </a:rPr>
              <a:t>Global Implementation:</a:t>
            </a:r>
            <a:r>
              <a:rPr lang="en-US" sz="1750" dirty="0">
                <a:solidFill>
                  <a:srgbClr val="272525"/>
                </a:solidFill>
                <a:latin typeface="Inter" pitchFamily="34" charset="0"/>
                <a:ea typeface="Inter" pitchFamily="34" charset="-122"/>
                <a:cs typeface="Inter" pitchFamily="34" charset="-120"/>
              </a:rPr>
              <a:t> Expanding the system to address pothole concerns on a larger scale</a:t>
            </a:r>
            <a:endParaRPr lang="en-US" sz="1750" dirty="0"/>
          </a:p>
        </p:txBody>
      </p:sp>
      <p:sp>
        <p:nvSpPr>
          <p:cNvPr id="6" name="Rectangle 5">
            <a:extLst>
              <a:ext uri="{FF2B5EF4-FFF2-40B4-BE49-F238E27FC236}">
                <a16:creationId xmlns:a16="http://schemas.microsoft.com/office/drawing/2014/main" id="{BFFBB0A1-E1A0-F8BE-9704-8C523759F024}"/>
              </a:ext>
            </a:extLst>
          </p:cNvPr>
          <p:cNvSpPr/>
          <p:nvPr/>
        </p:nvSpPr>
        <p:spPr>
          <a:xfrm>
            <a:off x="12801600" y="7716253"/>
            <a:ext cx="1828800" cy="5133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988338"/>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Project Budget</a:t>
            </a:r>
            <a:endParaRPr lang="en-US" sz="3550" dirty="0"/>
          </a:p>
        </p:txBody>
      </p:sp>
      <p:sp>
        <p:nvSpPr>
          <p:cNvPr id="3" name="Text 1"/>
          <p:cNvSpPr/>
          <p:nvPr/>
        </p:nvSpPr>
        <p:spPr>
          <a:xfrm>
            <a:off x="793790" y="1845588"/>
            <a:ext cx="13042821"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An estimated budget plan for the development and implementation of the IoT-based Pothole Detection &amp; Alert System.</a:t>
            </a:r>
            <a:endParaRPr lang="en-US" sz="1400" dirty="0"/>
          </a:p>
        </p:txBody>
      </p:sp>
      <p:sp>
        <p:nvSpPr>
          <p:cNvPr id="4" name="Shape 2"/>
          <p:cNvSpPr/>
          <p:nvPr/>
        </p:nvSpPr>
        <p:spPr>
          <a:xfrm>
            <a:off x="793790" y="2270046"/>
            <a:ext cx="13042821" cy="4971098"/>
          </a:xfrm>
          <a:prstGeom prst="roundRect">
            <a:avLst>
              <a:gd name="adj" fmla="val 1533"/>
            </a:avLst>
          </a:prstGeom>
          <a:noFill/>
          <a:ln w="7620">
            <a:solidFill>
              <a:srgbClr val="000000">
                <a:alpha val="8000"/>
              </a:srgbClr>
            </a:solidFill>
            <a:prstDash val="solid"/>
          </a:ln>
        </p:spPr>
        <p:txBody>
          <a:bodyPr/>
          <a:p/>
        </p:txBody>
      </p:sp>
      <p:sp>
        <p:nvSpPr>
          <p:cNvPr id="5" name="Shape 3"/>
          <p:cNvSpPr/>
          <p:nvPr/>
        </p:nvSpPr>
        <p:spPr>
          <a:xfrm>
            <a:off x="801410" y="2277666"/>
            <a:ext cx="13027581" cy="450533"/>
          </a:xfrm>
          <a:prstGeom prst="rect">
            <a:avLst/>
          </a:prstGeom>
          <a:solidFill>
            <a:srgbClr val="FFFFFF">
              <a:alpha val="4000"/>
            </a:srgbClr>
          </a:solidFill>
          <a:ln/>
        </p:spPr>
        <p:txBody>
          <a:bodyPr/>
          <a:p/>
        </p:txBody>
      </p:sp>
      <p:sp>
        <p:nvSpPr>
          <p:cNvPr id="6" name="Text 4"/>
          <p:cNvSpPr/>
          <p:nvPr/>
        </p:nvSpPr>
        <p:spPr>
          <a:xfrm>
            <a:off x="982861" y="2372320"/>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Arduino Uno / ESP32-CAM</a:t>
            </a:r>
            <a:endParaRPr lang="en-US" sz="1400" dirty="0"/>
          </a:p>
        </p:txBody>
      </p:sp>
      <p:sp>
        <p:nvSpPr>
          <p:cNvPr id="7" name="Text 5"/>
          <p:cNvSpPr/>
          <p:nvPr/>
        </p:nvSpPr>
        <p:spPr>
          <a:xfrm>
            <a:off x="7500461" y="2372320"/>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1500</a:t>
            </a:r>
            <a:endParaRPr lang="en-US" sz="1400" dirty="0"/>
          </a:p>
        </p:txBody>
      </p:sp>
      <p:sp>
        <p:nvSpPr>
          <p:cNvPr id="8" name="Shape 6"/>
          <p:cNvSpPr/>
          <p:nvPr/>
        </p:nvSpPr>
        <p:spPr>
          <a:xfrm>
            <a:off x="801410" y="2728198"/>
            <a:ext cx="13027581" cy="450533"/>
          </a:xfrm>
          <a:prstGeom prst="rect">
            <a:avLst/>
          </a:prstGeom>
          <a:solidFill>
            <a:srgbClr val="000000">
              <a:alpha val="4000"/>
            </a:srgbClr>
          </a:solidFill>
          <a:ln/>
        </p:spPr>
        <p:txBody>
          <a:bodyPr/>
          <a:p/>
        </p:txBody>
      </p:sp>
      <p:sp>
        <p:nvSpPr>
          <p:cNvPr id="9" name="Text 7"/>
          <p:cNvSpPr/>
          <p:nvPr/>
        </p:nvSpPr>
        <p:spPr>
          <a:xfrm>
            <a:off x="982861" y="2822853"/>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Ultrasonic Sensors (2)</a:t>
            </a:r>
            <a:endParaRPr lang="en-US" sz="1400" dirty="0"/>
          </a:p>
        </p:txBody>
      </p:sp>
      <p:sp>
        <p:nvSpPr>
          <p:cNvPr id="10" name="Text 8"/>
          <p:cNvSpPr/>
          <p:nvPr/>
        </p:nvSpPr>
        <p:spPr>
          <a:xfrm>
            <a:off x="7500461" y="2822853"/>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400</a:t>
            </a:r>
            <a:endParaRPr lang="en-US" sz="1400" dirty="0"/>
          </a:p>
        </p:txBody>
      </p:sp>
      <p:sp>
        <p:nvSpPr>
          <p:cNvPr id="11" name="Shape 9"/>
          <p:cNvSpPr/>
          <p:nvPr/>
        </p:nvSpPr>
        <p:spPr>
          <a:xfrm>
            <a:off x="801410" y="3178731"/>
            <a:ext cx="13027581" cy="450533"/>
          </a:xfrm>
          <a:prstGeom prst="rect">
            <a:avLst/>
          </a:prstGeom>
          <a:solidFill>
            <a:srgbClr val="FFFFFF">
              <a:alpha val="4000"/>
            </a:srgbClr>
          </a:solidFill>
          <a:ln/>
        </p:spPr>
        <p:txBody>
          <a:bodyPr/>
          <a:p/>
        </p:txBody>
      </p:sp>
      <p:sp>
        <p:nvSpPr>
          <p:cNvPr id="12" name="Text 10"/>
          <p:cNvSpPr/>
          <p:nvPr/>
        </p:nvSpPr>
        <p:spPr>
          <a:xfrm>
            <a:off x="982861" y="3273385"/>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GPS Module</a:t>
            </a:r>
            <a:endParaRPr lang="en-US" sz="1400" dirty="0"/>
          </a:p>
        </p:txBody>
      </p:sp>
      <p:sp>
        <p:nvSpPr>
          <p:cNvPr id="13" name="Text 11"/>
          <p:cNvSpPr/>
          <p:nvPr/>
        </p:nvSpPr>
        <p:spPr>
          <a:xfrm>
            <a:off x="7500461" y="3273385"/>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600</a:t>
            </a:r>
            <a:endParaRPr lang="en-US" sz="1400" dirty="0"/>
          </a:p>
        </p:txBody>
      </p:sp>
      <p:sp>
        <p:nvSpPr>
          <p:cNvPr id="14" name="Shape 12"/>
          <p:cNvSpPr/>
          <p:nvPr/>
        </p:nvSpPr>
        <p:spPr>
          <a:xfrm>
            <a:off x="801410" y="3629263"/>
            <a:ext cx="13027581" cy="450533"/>
          </a:xfrm>
          <a:prstGeom prst="rect">
            <a:avLst/>
          </a:prstGeom>
          <a:solidFill>
            <a:srgbClr val="000000">
              <a:alpha val="4000"/>
            </a:srgbClr>
          </a:solidFill>
          <a:ln/>
        </p:spPr>
        <p:txBody>
          <a:bodyPr/>
          <a:p/>
        </p:txBody>
      </p:sp>
      <p:sp>
        <p:nvSpPr>
          <p:cNvPr id="15" name="Text 13"/>
          <p:cNvSpPr/>
          <p:nvPr/>
        </p:nvSpPr>
        <p:spPr>
          <a:xfrm>
            <a:off x="982861" y="3723918"/>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Motor Driver &amp; Motors</a:t>
            </a:r>
            <a:endParaRPr lang="en-US" sz="1400" dirty="0"/>
          </a:p>
        </p:txBody>
      </p:sp>
      <p:sp>
        <p:nvSpPr>
          <p:cNvPr id="16" name="Text 14"/>
          <p:cNvSpPr/>
          <p:nvPr/>
        </p:nvSpPr>
        <p:spPr>
          <a:xfrm>
            <a:off x="7500461" y="3723918"/>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700</a:t>
            </a:r>
            <a:endParaRPr lang="en-US" sz="1400" dirty="0"/>
          </a:p>
        </p:txBody>
      </p:sp>
      <p:sp>
        <p:nvSpPr>
          <p:cNvPr id="17" name="Shape 15"/>
          <p:cNvSpPr/>
          <p:nvPr/>
        </p:nvSpPr>
        <p:spPr>
          <a:xfrm>
            <a:off x="801410" y="4079796"/>
            <a:ext cx="13027581" cy="450533"/>
          </a:xfrm>
          <a:prstGeom prst="rect">
            <a:avLst/>
          </a:prstGeom>
          <a:solidFill>
            <a:srgbClr val="FFFFFF">
              <a:alpha val="4000"/>
            </a:srgbClr>
          </a:solidFill>
          <a:ln/>
        </p:spPr>
        <p:txBody>
          <a:bodyPr/>
          <a:p/>
        </p:txBody>
      </p:sp>
      <p:sp>
        <p:nvSpPr>
          <p:cNvPr id="18" name="Text 16"/>
          <p:cNvSpPr/>
          <p:nvPr/>
        </p:nvSpPr>
        <p:spPr>
          <a:xfrm>
            <a:off x="982861" y="4174450"/>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Jumper Wires &amp; Breadboard</a:t>
            </a:r>
            <a:endParaRPr lang="en-US" sz="1400" dirty="0"/>
          </a:p>
        </p:txBody>
      </p:sp>
      <p:sp>
        <p:nvSpPr>
          <p:cNvPr id="19" name="Text 17"/>
          <p:cNvSpPr/>
          <p:nvPr/>
        </p:nvSpPr>
        <p:spPr>
          <a:xfrm>
            <a:off x="7500461" y="4174450"/>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200</a:t>
            </a:r>
            <a:endParaRPr lang="en-US" sz="1400" dirty="0"/>
          </a:p>
        </p:txBody>
      </p:sp>
      <p:sp>
        <p:nvSpPr>
          <p:cNvPr id="20" name="Shape 18"/>
          <p:cNvSpPr/>
          <p:nvPr/>
        </p:nvSpPr>
        <p:spPr>
          <a:xfrm>
            <a:off x="801410" y="4530328"/>
            <a:ext cx="13027581" cy="450533"/>
          </a:xfrm>
          <a:prstGeom prst="rect">
            <a:avLst/>
          </a:prstGeom>
          <a:solidFill>
            <a:srgbClr val="000000">
              <a:alpha val="4000"/>
            </a:srgbClr>
          </a:solidFill>
          <a:ln/>
        </p:spPr>
        <p:txBody>
          <a:bodyPr/>
          <a:p/>
        </p:txBody>
      </p:sp>
      <p:sp>
        <p:nvSpPr>
          <p:cNvPr id="21" name="Text 19"/>
          <p:cNvSpPr/>
          <p:nvPr/>
        </p:nvSpPr>
        <p:spPr>
          <a:xfrm>
            <a:off x="982861" y="4624983"/>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Power Supply (Battery/Power Bank)</a:t>
            </a:r>
            <a:endParaRPr lang="en-US" sz="1400" dirty="0"/>
          </a:p>
        </p:txBody>
      </p:sp>
      <p:sp>
        <p:nvSpPr>
          <p:cNvPr id="22" name="Text 20"/>
          <p:cNvSpPr/>
          <p:nvPr/>
        </p:nvSpPr>
        <p:spPr>
          <a:xfrm>
            <a:off x="7500461" y="4624983"/>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500</a:t>
            </a:r>
            <a:endParaRPr lang="en-US" sz="1400" dirty="0"/>
          </a:p>
        </p:txBody>
      </p:sp>
      <p:sp>
        <p:nvSpPr>
          <p:cNvPr id="23" name="Shape 21"/>
          <p:cNvSpPr/>
          <p:nvPr/>
        </p:nvSpPr>
        <p:spPr>
          <a:xfrm>
            <a:off x="801410" y="4980861"/>
            <a:ext cx="13027581" cy="450533"/>
          </a:xfrm>
          <a:prstGeom prst="rect">
            <a:avLst/>
          </a:prstGeom>
          <a:solidFill>
            <a:srgbClr val="FFFFFF">
              <a:alpha val="4000"/>
            </a:srgbClr>
          </a:solidFill>
          <a:ln/>
        </p:spPr>
        <p:txBody>
          <a:bodyPr/>
          <a:p/>
        </p:txBody>
      </p:sp>
      <p:sp>
        <p:nvSpPr>
          <p:cNvPr id="24" name="Text 22"/>
          <p:cNvSpPr/>
          <p:nvPr/>
        </p:nvSpPr>
        <p:spPr>
          <a:xfrm>
            <a:off x="982861" y="5075515"/>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Enclosure/Casing</a:t>
            </a:r>
            <a:endParaRPr lang="en-US" sz="1400" dirty="0"/>
          </a:p>
        </p:txBody>
      </p:sp>
      <p:sp>
        <p:nvSpPr>
          <p:cNvPr id="25" name="Text 23"/>
          <p:cNvSpPr/>
          <p:nvPr/>
        </p:nvSpPr>
        <p:spPr>
          <a:xfrm>
            <a:off x="7500461" y="5075515"/>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400</a:t>
            </a:r>
            <a:endParaRPr lang="en-US" sz="1400" dirty="0"/>
          </a:p>
        </p:txBody>
      </p:sp>
      <p:sp>
        <p:nvSpPr>
          <p:cNvPr id="26" name="Shape 24"/>
          <p:cNvSpPr/>
          <p:nvPr/>
        </p:nvSpPr>
        <p:spPr>
          <a:xfrm>
            <a:off x="801410" y="5431393"/>
            <a:ext cx="13027581" cy="450533"/>
          </a:xfrm>
          <a:prstGeom prst="rect">
            <a:avLst/>
          </a:prstGeom>
          <a:solidFill>
            <a:srgbClr val="000000">
              <a:alpha val="4000"/>
            </a:srgbClr>
          </a:solidFill>
          <a:ln/>
        </p:spPr>
        <p:txBody>
          <a:bodyPr/>
          <a:p/>
        </p:txBody>
      </p:sp>
      <p:sp>
        <p:nvSpPr>
          <p:cNvPr id="27" name="Text 25"/>
          <p:cNvSpPr/>
          <p:nvPr/>
        </p:nvSpPr>
        <p:spPr>
          <a:xfrm>
            <a:off x="982861" y="5526048"/>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Miscellaneous Components</a:t>
            </a:r>
            <a:endParaRPr lang="en-US" sz="1400" dirty="0"/>
          </a:p>
        </p:txBody>
      </p:sp>
      <p:sp>
        <p:nvSpPr>
          <p:cNvPr id="28" name="Text 26"/>
          <p:cNvSpPr/>
          <p:nvPr/>
        </p:nvSpPr>
        <p:spPr>
          <a:xfrm>
            <a:off x="7500461" y="5526048"/>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300</a:t>
            </a:r>
            <a:endParaRPr lang="en-US" sz="1400" dirty="0"/>
          </a:p>
        </p:txBody>
      </p:sp>
      <p:sp>
        <p:nvSpPr>
          <p:cNvPr id="29" name="Shape 27"/>
          <p:cNvSpPr/>
          <p:nvPr/>
        </p:nvSpPr>
        <p:spPr>
          <a:xfrm>
            <a:off x="801410" y="5881926"/>
            <a:ext cx="13027581" cy="450533"/>
          </a:xfrm>
          <a:prstGeom prst="rect">
            <a:avLst/>
          </a:prstGeom>
          <a:solidFill>
            <a:srgbClr val="FFFFFF">
              <a:alpha val="4000"/>
            </a:srgbClr>
          </a:solidFill>
          <a:ln/>
        </p:spPr>
        <p:txBody>
          <a:bodyPr/>
          <a:p/>
        </p:txBody>
      </p:sp>
      <p:sp>
        <p:nvSpPr>
          <p:cNvPr id="30" name="Text 28"/>
          <p:cNvSpPr/>
          <p:nvPr/>
        </p:nvSpPr>
        <p:spPr>
          <a:xfrm>
            <a:off x="982861" y="5976580"/>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Testing &amp; Calibration</a:t>
            </a:r>
            <a:endParaRPr lang="en-US" sz="1400" dirty="0"/>
          </a:p>
        </p:txBody>
      </p:sp>
      <p:sp>
        <p:nvSpPr>
          <p:cNvPr id="31" name="Text 29"/>
          <p:cNvSpPr/>
          <p:nvPr/>
        </p:nvSpPr>
        <p:spPr>
          <a:xfrm>
            <a:off x="7500461" y="5976580"/>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400</a:t>
            </a:r>
            <a:endParaRPr lang="en-US" sz="1400" dirty="0"/>
          </a:p>
        </p:txBody>
      </p:sp>
      <p:sp>
        <p:nvSpPr>
          <p:cNvPr id="32" name="Shape 30"/>
          <p:cNvSpPr/>
          <p:nvPr/>
        </p:nvSpPr>
        <p:spPr>
          <a:xfrm>
            <a:off x="801410" y="6332458"/>
            <a:ext cx="13027581" cy="450533"/>
          </a:xfrm>
          <a:prstGeom prst="rect">
            <a:avLst/>
          </a:prstGeom>
          <a:solidFill>
            <a:srgbClr val="000000">
              <a:alpha val="4000"/>
            </a:srgbClr>
          </a:solidFill>
          <a:ln/>
        </p:spPr>
        <p:txBody>
          <a:bodyPr/>
          <a:p/>
        </p:txBody>
      </p:sp>
      <p:sp>
        <p:nvSpPr>
          <p:cNvPr id="33" name="Text 31"/>
          <p:cNvSpPr/>
          <p:nvPr/>
        </p:nvSpPr>
        <p:spPr>
          <a:xfrm>
            <a:off x="982861" y="6427113"/>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Contingency (10%)</a:t>
            </a:r>
            <a:endParaRPr lang="en-US" sz="1400" dirty="0"/>
          </a:p>
        </p:txBody>
      </p:sp>
      <p:sp>
        <p:nvSpPr>
          <p:cNvPr id="34" name="Text 32"/>
          <p:cNvSpPr/>
          <p:nvPr/>
        </p:nvSpPr>
        <p:spPr>
          <a:xfrm>
            <a:off x="7500461" y="6427113"/>
            <a:ext cx="614707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Inter" pitchFamily="34" charset="0"/>
                <a:ea typeface="Inter" pitchFamily="34" charset="-122"/>
                <a:cs typeface="Inter" pitchFamily="34" charset="-120"/>
              </a:rPr>
              <a:t>500</a:t>
            </a:r>
            <a:endParaRPr lang="en-US" sz="1400" dirty="0"/>
          </a:p>
        </p:txBody>
      </p:sp>
      <p:sp>
        <p:nvSpPr>
          <p:cNvPr id="35" name="Shape 33"/>
          <p:cNvSpPr/>
          <p:nvPr/>
        </p:nvSpPr>
        <p:spPr>
          <a:xfrm>
            <a:off x="801410" y="6782991"/>
            <a:ext cx="13027581" cy="450533"/>
          </a:xfrm>
          <a:prstGeom prst="rect">
            <a:avLst/>
          </a:prstGeom>
          <a:solidFill>
            <a:srgbClr val="FFFFFF">
              <a:alpha val="4000"/>
            </a:srgbClr>
          </a:solidFill>
          <a:ln/>
        </p:spPr>
        <p:txBody>
          <a:bodyPr/>
          <a:p/>
        </p:txBody>
      </p:sp>
      <p:sp>
        <p:nvSpPr>
          <p:cNvPr id="36" name="Text 34"/>
          <p:cNvSpPr/>
          <p:nvPr/>
        </p:nvSpPr>
        <p:spPr>
          <a:xfrm>
            <a:off x="982861" y="6877645"/>
            <a:ext cx="6147078" cy="261223"/>
          </a:xfrm>
          <a:prstGeom prst="rect">
            <a:avLst/>
          </a:prstGeom>
          <a:noFill/>
          <a:ln/>
        </p:spPr>
        <p:txBody>
          <a:bodyPr wrap="none" lIns="0" tIns="0" rIns="0" bIns="0" rtlCol="0" anchor="t"/>
          <a:lstStyle/>
          <a:p>
            <a:pPr marL="0" indent="0" algn="l">
              <a:lnSpc>
                <a:spcPts val="2050"/>
              </a:lnSpc>
              <a:buNone/>
            </a:pPr>
            <a:r>
              <a:rPr lang="en-US" sz="1400" b="1" dirty="0">
                <a:solidFill>
                  <a:srgbClr val="272525"/>
                </a:solidFill>
                <a:latin typeface="Inter" pitchFamily="34" charset="0"/>
                <a:ea typeface="Inter" pitchFamily="34" charset="-122"/>
                <a:cs typeface="Inter" pitchFamily="34" charset="-120"/>
              </a:rPr>
              <a:t>Total Estimated Cost (rupees)</a:t>
            </a:r>
            <a:endParaRPr lang="en-US" sz="1400" dirty="0"/>
          </a:p>
        </p:txBody>
      </p:sp>
      <p:sp>
        <p:nvSpPr>
          <p:cNvPr id="37" name="Text 35"/>
          <p:cNvSpPr/>
          <p:nvPr/>
        </p:nvSpPr>
        <p:spPr>
          <a:xfrm>
            <a:off x="7500461" y="6877645"/>
            <a:ext cx="6147078" cy="261223"/>
          </a:xfrm>
          <a:prstGeom prst="rect">
            <a:avLst/>
          </a:prstGeom>
          <a:noFill/>
          <a:ln/>
        </p:spPr>
        <p:txBody>
          <a:bodyPr wrap="none" lIns="0" tIns="0" rIns="0" bIns="0" rtlCol="0" anchor="t"/>
          <a:lstStyle/>
          <a:p>
            <a:pPr marL="0" indent="0" algn="l">
              <a:lnSpc>
                <a:spcPts val="2050"/>
              </a:lnSpc>
              <a:buNone/>
            </a:pPr>
            <a:r>
              <a:rPr lang="en-US" sz="1400" b="1" dirty="0">
                <a:solidFill>
                  <a:srgbClr val="272525"/>
                </a:solidFill>
                <a:latin typeface="Inter" pitchFamily="34" charset="0"/>
                <a:ea typeface="Inter" pitchFamily="34" charset="-122"/>
                <a:cs typeface="Inter" pitchFamily="34" charset="-120"/>
              </a:rPr>
              <a:t>5500 </a:t>
            </a:r>
            <a:endParaRPr lang="en-US" sz="1400" dirty="0"/>
          </a:p>
        </p:txBody>
      </p:sp>
      <p:sp>
        <p:nvSpPr>
          <p:cNvPr id="38" name="Rectangle 37">
            <a:extLst>
              <a:ext uri="{FF2B5EF4-FFF2-40B4-BE49-F238E27FC236}">
                <a16:creationId xmlns:a16="http://schemas.microsoft.com/office/drawing/2014/main" id="{C897EDFC-AD0F-96B4-3A4A-6909E126814B}"/>
              </a:ext>
            </a:extLst>
          </p:cNvPr>
          <p:cNvSpPr/>
          <p:nvPr/>
        </p:nvSpPr>
        <p:spPr>
          <a:xfrm>
            <a:off x="12801600" y="7716253"/>
            <a:ext cx="1828800" cy="5133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535192"/>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Team Members</a:t>
            </a:r>
            <a:endParaRPr lang="en-US" sz="4450" dirty="0"/>
          </a:p>
        </p:txBody>
      </p:sp>
      <p:sp>
        <p:nvSpPr>
          <p:cNvPr id="3" name="Text 1"/>
          <p:cNvSpPr/>
          <p:nvPr/>
        </p:nvSpPr>
        <p:spPr>
          <a:xfrm>
            <a:off x="793790" y="2697599"/>
            <a:ext cx="13042821" cy="453509"/>
          </a:xfrm>
          <a:prstGeom prst="rect">
            <a:avLst/>
          </a:prstGeom>
          <a:noFill/>
          <a:ln/>
        </p:spPr>
        <p:txBody>
          <a:bodyPr wrap="none" lIns="0" tIns="0" rIns="0" bIns="0" rtlCol="0" anchor="t"/>
          <a:lstStyle/>
          <a:p>
            <a:pPr marL="0" indent="0" algn="l">
              <a:lnSpc>
                <a:spcPts val="3550"/>
              </a:lnSpc>
              <a:buNone/>
            </a:pPr>
            <a:r>
              <a:rPr lang="en-US" sz="2200" b="1" dirty="0">
                <a:solidFill>
                  <a:srgbClr val="272525"/>
                </a:solidFill>
                <a:latin typeface="Inter" pitchFamily="34" charset="0"/>
                <a:ea typeface="Inter" pitchFamily="34" charset="-122"/>
                <a:cs typeface="Inter" pitchFamily="34" charset="-120"/>
              </a:rPr>
              <a:t>1. Sampath Srinivas [23bce7414]</a:t>
            </a:r>
            <a:endParaRPr lang="en-US" sz="2200" dirty="0"/>
          </a:p>
        </p:txBody>
      </p:sp>
      <p:sp>
        <p:nvSpPr>
          <p:cNvPr id="4" name="Text 2"/>
          <p:cNvSpPr/>
          <p:nvPr/>
        </p:nvSpPr>
        <p:spPr>
          <a:xfrm>
            <a:off x="793790" y="3406259"/>
            <a:ext cx="13042821" cy="453509"/>
          </a:xfrm>
          <a:prstGeom prst="rect">
            <a:avLst/>
          </a:prstGeom>
          <a:noFill/>
          <a:ln/>
        </p:spPr>
        <p:txBody>
          <a:bodyPr wrap="none" lIns="0" tIns="0" rIns="0" bIns="0" rtlCol="0" anchor="t"/>
          <a:lstStyle/>
          <a:p>
            <a:pPr marL="0" indent="0" algn="l">
              <a:lnSpc>
                <a:spcPts val="3550"/>
              </a:lnSpc>
              <a:buNone/>
            </a:pPr>
            <a:r>
              <a:rPr lang="en-US" sz="2200" b="1" dirty="0">
                <a:solidFill>
                  <a:srgbClr val="272525"/>
                </a:solidFill>
                <a:latin typeface="Inter" pitchFamily="34" charset="0"/>
                <a:ea typeface="Inter" pitchFamily="34" charset="-122"/>
                <a:cs typeface="Inter" pitchFamily="34" charset="-120"/>
              </a:rPr>
              <a:t>2. Vaishnavi [23BCE9869]</a:t>
            </a:r>
            <a:endParaRPr lang="en-US" sz="2200" dirty="0"/>
          </a:p>
        </p:txBody>
      </p:sp>
      <p:sp>
        <p:nvSpPr>
          <p:cNvPr id="5" name="Text 3"/>
          <p:cNvSpPr/>
          <p:nvPr/>
        </p:nvSpPr>
        <p:spPr>
          <a:xfrm>
            <a:off x="793790" y="4114919"/>
            <a:ext cx="13042821" cy="453509"/>
          </a:xfrm>
          <a:prstGeom prst="rect">
            <a:avLst/>
          </a:prstGeom>
          <a:noFill/>
          <a:ln/>
        </p:spPr>
        <p:txBody>
          <a:bodyPr wrap="none" lIns="0" tIns="0" rIns="0" bIns="0" rtlCol="0" anchor="t"/>
          <a:lstStyle/>
          <a:p>
            <a:pPr marL="0" indent="0" algn="l">
              <a:lnSpc>
                <a:spcPts val="3550"/>
              </a:lnSpc>
              <a:buNone/>
            </a:pPr>
            <a:r>
              <a:rPr lang="en-US" sz="2200" b="1" dirty="0">
                <a:solidFill>
                  <a:srgbClr val="272525"/>
                </a:solidFill>
                <a:latin typeface="Inter" pitchFamily="34" charset="0"/>
                <a:ea typeface="Inter" pitchFamily="34" charset="-122"/>
                <a:cs typeface="Inter" pitchFamily="34" charset="-120"/>
              </a:rPr>
              <a:t>3. K. Rama Ganesh [23BCE7277]</a:t>
            </a:r>
            <a:endParaRPr lang="en-US" sz="2200" dirty="0"/>
          </a:p>
        </p:txBody>
      </p:sp>
      <p:sp>
        <p:nvSpPr>
          <p:cNvPr id="6" name="Text 4"/>
          <p:cNvSpPr/>
          <p:nvPr/>
        </p:nvSpPr>
        <p:spPr>
          <a:xfrm>
            <a:off x="793790" y="4823579"/>
            <a:ext cx="13042821" cy="453509"/>
          </a:xfrm>
          <a:prstGeom prst="rect">
            <a:avLst/>
          </a:prstGeom>
          <a:noFill/>
          <a:ln/>
        </p:spPr>
        <p:txBody>
          <a:bodyPr wrap="none" lIns="0" tIns="0" rIns="0" bIns="0" rtlCol="0" anchor="t"/>
          <a:lstStyle/>
          <a:p>
            <a:pPr marL="0" indent="0" algn="l">
              <a:lnSpc>
                <a:spcPts val="3550"/>
              </a:lnSpc>
              <a:buNone/>
            </a:pPr>
            <a:r>
              <a:rPr lang="en-US" sz="2200" b="1" dirty="0">
                <a:solidFill>
                  <a:srgbClr val="272525"/>
                </a:solidFill>
                <a:latin typeface="Inter" pitchFamily="34" charset="0"/>
                <a:ea typeface="Inter" pitchFamily="34" charset="-122"/>
                <a:cs typeface="Inter" pitchFamily="34" charset="-120"/>
              </a:rPr>
              <a:t>4. </a:t>
            </a:r>
            <a:r>
              <a:rPr lang="en-US" sz="2200" b="1" dirty="0" err="1">
                <a:solidFill>
                  <a:srgbClr val="272525"/>
                </a:solidFill>
                <a:latin typeface="Inter" pitchFamily="34" charset="0"/>
                <a:ea typeface="Inter" pitchFamily="34" charset="-122"/>
                <a:cs typeface="Inter" pitchFamily="34" charset="-120"/>
              </a:rPr>
              <a:t>Sk</a:t>
            </a:r>
            <a:r>
              <a:rPr lang="en-US" sz="2200" b="1" dirty="0">
                <a:solidFill>
                  <a:srgbClr val="272525"/>
                </a:solidFill>
                <a:latin typeface="Inter" pitchFamily="34" charset="0"/>
                <a:ea typeface="Inter" pitchFamily="34" charset="-122"/>
                <a:cs typeface="Inter" pitchFamily="34" charset="-120"/>
              </a:rPr>
              <a:t> Rizwana [23BEC7373]</a:t>
            </a:r>
            <a:endParaRPr lang="en-US" sz="2200" dirty="0"/>
          </a:p>
        </p:txBody>
      </p:sp>
      <p:sp>
        <p:nvSpPr>
          <p:cNvPr id="7" name="Text 5"/>
          <p:cNvSpPr/>
          <p:nvPr/>
        </p:nvSpPr>
        <p:spPr>
          <a:xfrm>
            <a:off x="793790" y="5532239"/>
            <a:ext cx="13042821" cy="453509"/>
          </a:xfrm>
          <a:prstGeom prst="rect">
            <a:avLst/>
          </a:prstGeom>
          <a:noFill/>
          <a:ln/>
        </p:spPr>
        <p:txBody>
          <a:bodyPr wrap="none" lIns="0" tIns="0" rIns="0" bIns="0" rtlCol="0" anchor="t"/>
          <a:lstStyle/>
          <a:p>
            <a:pPr marL="0" indent="0" algn="l">
              <a:lnSpc>
                <a:spcPts val="3550"/>
              </a:lnSpc>
              <a:buNone/>
            </a:pPr>
            <a:r>
              <a:rPr lang="en-US" sz="2200" b="1" dirty="0">
                <a:solidFill>
                  <a:srgbClr val="272525"/>
                </a:solidFill>
                <a:latin typeface="Inter" pitchFamily="34" charset="0"/>
                <a:ea typeface="Inter" pitchFamily="34" charset="-122"/>
                <a:cs typeface="Inter" pitchFamily="34" charset="-120"/>
              </a:rPr>
              <a:t>5. </a:t>
            </a:r>
            <a:r>
              <a:rPr lang="en-US" sz="2200" b="1" dirty="0" err="1">
                <a:solidFill>
                  <a:srgbClr val="272525"/>
                </a:solidFill>
                <a:latin typeface="Inter" pitchFamily="34" charset="0"/>
                <a:ea typeface="Inter" pitchFamily="34" charset="-122"/>
                <a:cs typeface="Inter" pitchFamily="34" charset="-120"/>
              </a:rPr>
              <a:t>I.Vinusha</a:t>
            </a:r>
            <a:r>
              <a:rPr lang="en-US" sz="2200" b="1" dirty="0">
                <a:solidFill>
                  <a:srgbClr val="272525"/>
                </a:solidFill>
                <a:latin typeface="Inter" pitchFamily="34" charset="0"/>
                <a:ea typeface="Inter" pitchFamily="34" charset="-122"/>
                <a:cs typeface="Inter" pitchFamily="34" charset="-120"/>
              </a:rPr>
              <a:t> [23BEC7371]</a:t>
            </a:r>
            <a:endParaRPr lang="en-US" sz="2200" dirty="0"/>
          </a:p>
        </p:txBody>
      </p:sp>
      <p:sp>
        <p:nvSpPr>
          <p:cNvPr id="8" name="Text 6"/>
          <p:cNvSpPr/>
          <p:nvPr/>
        </p:nvSpPr>
        <p:spPr>
          <a:xfrm>
            <a:off x="793790" y="6240899"/>
            <a:ext cx="13042821" cy="453509"/>
          </a:xfrm>
          <a:prstGeom prst="rect">
            <a:avLst/>
          </a:prstGeom>
          <a:noFill/>
          <a:ln/>
        </p:spPr>
        <p:txBody>
          <a:bodyPr wrap="none" lIns="0" tIns="0" rIns="0" bIns="0" rtlCol="0" anchor="t"/>
          <a:lstStyle/>
          <a:p>
            <a:pPr marL="0" indent="0" algn="l">
              <a:lnSpc>
                <a:spcPts val="3550"/>
              </a:lnSpc>
              <a:buNone/>
            </a:pPr>
            <a:r>
              <a:rPr lang="en-US" sz="2200" b="1" dirty="0">
                <a:solidFill>
                  <a:srgbClr val="272525"/>
                </a:solidFill>
                <a:latin typeface="Inter" pitchFamily="34" charset="0"/>
                <a:ea typeface="Inter" pitchFamily="34" charset="-122"/>
                <a:cs typeface="Inter" pitchFamily="34" charset="-120"/>
              </a:rPr>
              <a:t>6. Tejesh Madanwad [23BCE7365]</a:t>
            </a:r>
            <a:endParaRPr lang="en-US" sz="2200" dirty="0"/>
          </a:p>
        </p:txBody>
      </p:sp>
      <p:sp>
        <p:nvSpPr>
          <p:cNvPr id="9" name="Rectangle 8">
            <a:extLst>
              <a:ext uri="{FF2B5EF4-FFF2-40B4-BE49-F238E27FC236}">
                <a16:creationId xmlns:a16="http://schemas.microsoft.com/office/drawing/2014/main" id="{59BD244E-1CEC-B026-9549-FD2BAA71706B}"/>
              </a:ext>
            </a:extLst>
          </p:cNvPr>
          <p:cNvSpPr/>
          <p:nvPr/>
        </p:nvSpPr>
        <p:spPr>
          <a:xfrm>
            <a:off x="12801600" y="7716253"/>
            <a:ext cx="1828800" cy="5133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659</Words>
  <Application>Microsoft Office PowerPoint</Application>
  <PresentationFormat>Custom</PresentationFormat>
  <Paragraphs>86</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Inter</vt:lpstr>
      <vt:lpstr>Arial</vt:lpstr>
      <vt:lpstr>Inter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vaishnavi gadepalli</dc:creator>
  <cp:lastModifiedBy>vaishnavi gadepalli</cp:lastModifiedBy>
  <cp:revision>3</cp:revision>
  <dcterms:created xsi:type="dcterms:W3CDTF">2026-01-23T17:38:25Z</dcterms:created>
  <dcterms:modified xsi:type="dcterms:W3CDTF">2026-01-23T18:15:28Z</dcterms:modified>
</cp:coreProperties>
</file>